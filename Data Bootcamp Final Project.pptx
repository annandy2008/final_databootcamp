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4"/>
    <p:restoredTop sz="80364"/>
  </p:normalViewPr>
  <p:slideViewPr>
    <p:cSldViewPr snapToGrid="0">
      <p:cViewPr varScale="1">
        <p:scale>
          <a:sx n="107" d="100"/>
          <a:sy n="107" d="100"/>
        </p:scale>
        <p:origin x="80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C59F6E-7B57-F64C-8816-7C5A7102CF64}" type="datetimeFigureOut">
              <a:rPr lang="en-CN" smtClean="0"/>
              <a:t>2025/12/18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8F9480-1638-4747-A76B-FC4EAD4269B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91814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F1115"/>
                </a:solidFill>
                <a:effectLst/>
                <a:latin typeface="quote-cjk-patch"/>
              </a:rPr>
              <a:t>(log transformation for scale variables, cross-sectional standardization for comparability, rolling window calculations to capture dynamic changes)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F9480-1638-4747-A76B-FC4EAD4269B8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79061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F9480-1638-4747-A76B-FC4EAD4269B8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06669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compare models with increasing flexibility. Logistic regression serves as a simple and interpretable benchmark. Random forest allows for nonlinear relationships and interactions, while the neural network tests whether a high-capacity model can extract more signal from noisy financial data. All models are evaluated using out-of-sample accuracy.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use a feedforward neural network with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hidden layers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each containing 100 neurons, and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ReLU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activations. The input layer has seven features, and the output layer predicts the probability of positive versus negative next-month returns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F9480-1638-4747-A76B-FC4EAD4269B8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26117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modest improvement over baseline highlights the difficulty of predicting next-month stock return direction. The limited dispersion in accuracy across models suggests that model choice has a relatively small impact compared to the intrinsic noise in short-horizon returns. The results are consistent with the efficient market hypothesis, which posits that publicly available information is quickly incorporated into prices, leaving limited predictable patterns.</a:t>
            </a:r>
            <a:endParaRPr lang="en-CN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F9480-1638-4747-A76B-FC4EAD4269B8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57090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F9480-1638-4747-A76B-FC4EAD4269B8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98602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F9480-1638-4747-A76B-FC4EAD4269B8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90651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F9480-1638-4747-A76B-FC4EAD4269B8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48876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12/18/25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12/18/25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DD490-E344-5BF7-9461-27584E77ED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sz="4400" dirty="0"/>
              <a:t>Data Bootcamp Final project: </a:t>
            </a:r>
            <a:br>
              <a:rPr lang="en-CN" sz="4400" dirty="0"/>
            </a:br>
            <a:r>
              <a:rPr lang="en-CN" sz="4400" dirty="0"/>
              <a:t>Stock Return Direction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A64615-BF0E-7D20-0D0A-C05954C374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N" dirty="0"/>
              <a:t>Menghan Liu</a:t>
            </a:r>
          </a:p>
          <a:p>
            <a:r>
              <a:rPr lang="en-CN" dirty="0"/>
              <a:t>Yicheng Song</a:t>
            </a:r>
          </a:p>
          <a:p>
            <a:r>
              <a:rPr lang="en-CN" dirty="0"/>
              <a:t>Jenny Zhu</a:t>
            </a:r>
          </a:p>
        </p:txBody>
      </p:sp>
    </p:spTree>
    <p:extLst>
      <p:ext uri="{BB962C8B-B14F-4D97-AF65-F5344CB8AC3E}">
        <p14:creationId xmlns:p14="http://schemas.microsoft.com/office/powerpoint/2010/main" val="124380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738F0-FC0F-DCB6-AC75-DA59B6F14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dirty="0"/>
              <a:t>Research Focus and Topic Question</a:t>
            </a:r>
            <a:endParaRPr lang="en-C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886456-513D-E9FE-B188-6117C8E43F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3562" y="2286000"/>
            <a:ext cx="5072437" cy="35814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CN" altLang="en-CN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CN" altLang="en-CN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Can we predict </a:t>
            </a:r>
            <a:r>
              <a:rPr kumimoji="0" lang="en-CN" altLang="en-CN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next-month stock return direction</a:t>
            </a:r>
            <a:r>
              <a:rPr kumimoji="0" lang="en-CN" altLang="en-CN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?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CN" altLang="en-CN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CN" altLang="en-CN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Test whether market + fundamental data contain short-term predictive power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CN" altLang="en-CN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CN" altLang="en-CN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Focus on </a:t>
            </a:r>
            <a:r>
              <a:rPr kumimoji="0" lang="en-CN" altLang="en-CN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prediction accuracy &amp; interpretation</a:t>
            </a:r>
            <a:r>
              <a:rPr kumimoji="0" lang="en-CN" altLang="en-CN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not trading profits. </a:t>
            </a:r>
            <a:r>
              <a:rPr lang="en-CN" altLang="en-CN" sz="1800" dirty="0">
                <a:latin typeface="Arial" panose="020B0604020202020204" pitchFamily="34" charset="0"/>
              </a:rPr>
              <a:t>(Binary Classifcation Problem --- Up or Down)</a:t>
            </a:r>
            <a:endParaRPr kumimoji="0" lang="en-CN" altLang="en-CN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CN" altLang="en-CN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 descr="A line of blue dots&#10;&#10;AI-generated content may be incorrect.">
            <a:extLst>
              <a:ext uri="{FF2B5EF4-FFF2-40B4-BE49-F238E27FC236}">
                <a16:creationId xmlns:a16="http://schemas.microsoft.com/office/drawing/2014/main" id="{9485970C-255C-5231-E931-A0E428CBA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641" y="3055782"/>
            <a:ext cx="4195399" cy="213152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3F17F22-818B-8974-7167-D0DE928800A5}"/>
              </a:ext>
            </a:extLst>
          </p:cNvPr>
          <p:cNvCxnSpPr>
            <a:cxnSpLocks/>
          </p:cNvCxnSpPr>
          <p:nvPr/>
        </p:nvCxnSpPr>
        <p:spPr>
          <a:xfrm>
            <a:off x="10607040" y="4462529"/>
            <a:ext cx="751840" cy="72477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A341B5-A8BC-A706-C2F6-585741B5CFB7}"/>
              </a:ext>
            </a:extLst>
          </p:cNvPr>
          <p:cNvCxnSpPr>
            <a:cxnSpLocks/>
          </p:cNvCxnSpPr>
          <p:nvPr/>
        </p:nvCxnSpPr>
        <p:spPr>
          <a:xfrm flipV="1">
            <a:off x="10607040" y="3931920"/>
            <a:ext cx="833120" cy="5306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218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8F7B1-3D16-02A9-6FFA-664738A32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  </a:t>
            </a:r>
            <a:endParaRPr lang="en-C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1C0CA1-0701-3A8C-1043-0F4CB186C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5415280" cy="3581400"/>
          </a:xfrm>
        </p:spPr>
        <p:txBody>
          <a:bodyPr/>
          <a:lstStyle/>
          <a:p>
            <a:r>
              <a:rPr lang="en-US" dirty="0"/>
              <a:t>Primary Sources (via WRDS):</a:t>
            </a:r>
          </a:p>
          <a:p>
            <a:pPr lvl="1"/>
            <a:r>
              <a:rPr lang="en-US" i="0" dirty="0"/>
              <a:t>CRSP Monthly Stock File: Market data (returns, price, volume) – Jan 2018 to Dec 2024.</a:t>
            </a:r>
          </a:p>
          <a:p>
            <a:pPr lvl="1"/>
            <a:r>
              <a:rPr lang="en-US" i="0" dirty="0" err="1"/>
              <a:t>Compustat</a:t>
            </a:r>
            <a:r>
              <a:rPr lang="en-US" i="0" dirty="0"/>
              <a:t> Fundamentals Quarterly: Accounting data (income, equity) for public firms.</a:t>
            </a:r>
          </a:p>
          <a:p>
            <a:pPr lvl="1"/>
            <a:r>
              <a:rPr lang="en-US" i="0" dirty="0"/>
              <a:t>Linked via CCM Table: Maps CRSP identifiers to </a:t>
            </a:r>
            <a:r>
              <a:rPr lang="en-US" i="0" dirty="0" err="1"/>
              <a:t>Compustat</a:t>
            </a:r>
            <a:r>
              <a:rPr lang="en-US" i="0" dirty="0"/>
              <a:t>, enabling integration of market and accounting data.</a:t>
            </a:r>
          </a:p>
          <a:p>
            <a:endParaRPr lang="en-C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5250B-FA1F-A2C9-B585-53599C5DE196}"/>
              </a:ext>
            </a:extLst>
          </p:cNvPr>
          <p:cNvSpPr txBox="1"/>
          <p:nvPr/>
        </p:nvSpPr>
        <p:spPr>
          <a:xfrm>
            <a:off x="7244080" y="2171700"/>
            <a:ext cx="44805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/>
              <a:t>Raw Data (50k obs)</a:t>
            </a:r>
          </a:p>
          <a:p>
            <a:r>
              <a:rPr lang="en-CN" dirty="0"/>
              <a:t>      ↓</a:t>
            </a:r>
          </a:p>
          <a:p>
            <a:r>
              <a:rPr lang="en-CN" dirty="0"/>
              <a:t>Deduplication (Keep most recent quarter)</a:t>
            </a:r>
          </a:p>
          <a:p>
            <a:r>
              <a:rPr lang="en-CN" dirty="0"/>
              <a:t>      ↓</a:t>
            </a:r>
          </a:p>
          <a:p>
            <a:r>
              <a:rPr lang="en-CN" dirty="0"/>
              <a:t>22,795 unique stock-months</a:t>
            </a:r>
          </a:p>
          <a:p>
            <a:r>
              <a:rPr lang="en-CN" dirty="0"/>
              <a:t>      ↓</a:t>
            </a:r>
          </a:p>
          <a:p>
            <a:r>
              <a:rPr lang="en-CN" dirty="0"/>
              <a:t>Feature Engineering &amp; Remove Missing</a:t>
            </a:r>
          </a:p>
          <a:p>
            <a:r>
              <a:rPr lang="en-CN" dirty="0"/>
              <a:t>      ↓</a:t>
            </a:r>
          </a:p>
          <a:p>
            <a:r>
              <a:rPr lang="en-CN" dirty="0"/>
              <a:t>**Final Dataset: 21,224 observations**</a:t>
            </a:r>
          </a:p>
          <a:p>
            <a:r>
              <a:rPr lang="en-CN" dirty="0"/>
              <a:t>      ↓</a:t>
            </a:r>
          </a:p>
          <a:p>
            <a:r>
              <a:rPr lang="en-CN" dirty="0"/>
              <a:t>Train (80%) | Test (20%) – Ordered by stock/date</a:t>
            </a:r>
          </a:p>
        </p:txBody>
      </p:sp>
    </p:spTree>
    <p:extLst>
      <p:ext uri="{BB962C8B-B14F-4D97-AF65-F5344CB8AC3E}">
        <p14:creationId xmlns:p14="http://schemas.microsoft.com/office/powerpoint/2010/main" val="995384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89DDB-A32D-85EC-9266-856083578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282695" cy="1485900"/>
          </a:xfrm>
        </p:spPr>
        <p:txBody>
          <a:bodyPr>
            <a:normAutofit/>
          </a:bodyPr>
          <a:lstStyle/>
          <a:p>
            <a:r>
              <a:rPr lang="en-CN" dirty="0"/>
              <a:t>Feature 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A5A48-1E0D-B4B4-389E-7D1617E8A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3282694" cy="3581400"/>
          </a:xfrm>
        </p:spPr>
        <p:txBody>
          <a:bodyPr>
            <a:normAutofit/>
          </a:bodyPr>
          <a:lstStyle/>
          <a:p>
            <a:r>
              <a:rPr lang="en-CN" sz="1400" dirty="0"/>
              <a:t>Motivation:</a:t>
            </a:r>
          </a:p>
          <a:p>
            <a:pPr lvl="1"/>
            <a:r>
              <a:rPr lang="en-US" sz="1400" b="1" i="0" dirty="0"/>
              <a:t>lack of comparability </a:t>
            </a:r>
            <a:r>
              <a:rPr lang="en-US" sz="1400" i="0" dirty="0"/>
              <a:t>(vast differences in numerical scales across companies)</a:t>
            </a:r>
          </a:p>
          <a:p>
            <a:pPr lvl="1"/>
            <a:r>
              <a:rPr lang="en-US" sz="1400" b="1" i="0" dirty="0"/>
              <a:t>absence of directional information </a:t>
            </a:r>
            <a:r>
              <a:rPr lang="en-US" sz="1400" i="0" dirty="0"/>
              <a:t>(knowing only the value but not the trend)</a:t>
            </a:r>
          </a:p>
          <a:p>
            <a:pPr lvl="1"/>
            <a:r>
              <a:rPr lang="en-US" sz="1400" b="1" i="0" dirty="0"/>
              <a:t>frequency mismatch </a:t>
            </a:r>
            <a:r>
              <a:rPr lang="en-US" sz="1400" i="0" dirty="0"/>
              <a:t>(quarterly financial report data vs. monthly prediction needs)</a:t>
            </a:r>
          </a:p>
          <a:p>
            <a:pPr>
              <a:defRPr/>
            </a:pPr>
            <a:r>
              <a:rPr kumimoji="0" lang="en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Mesuares: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 Industry-standard processing techniques</a:t>
            </a:r>
            <a:endParaRPr kumimoji="0" lang="en-CN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  <a:p>
            <a:pPr marL="530352" lvl="1" indent="0">
              <a:buNone/>
            </a:pPr>
            <a:endParaRPr lang="en-US" sz="1400" i="0" dirty="0"/>
          </a:p>
          <a:p>
            <a:pPr lvl="1"/>
            <a:endParaRPr lang="en-CN" sz="1400" i="0" dirty="0"/>
          </a:p>
        </p:txBody>
      </p:sp>
      <p:pic>
        <p:nvPicPr>
          <p:cNvPr id="7" name="Picture 6" descr="A table with text on it&#10;&#10;AI-generated content may be incorrect.">
            <a:extLst>
              <a:ext uri="{FF2B5EF4-FFF2-40B4-BE49-F238E27FC236}">
                <a16:creationId xmlns:a16="http://schemas.microsoft.com/office/drawing/2014/main" id="{B6990B8C-ED2F-8751-21B2-B3FFD62D9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467" y="2602214"/>
            <a:ext cx="6517065" cy="294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282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BC14A-F3CD-CF97-2FB2-6CAECBD3F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EDA</a:t>
            </a:r>
          </a:p>
        </p:txBody>
      </p:sp>
      <p:pic>
        <p:nvPicPr>
          <p:cNvPr id="7" name="Content Placeholder 6" descr="A blue rectangular bars with numbers&#10;&#10;AI-generated content may be incorrect.">
            <a:extLst>
              <a:ext uri="{FF2B5EF4-FFF2-40B4-BE49-F238E27FC236}">
                <a16:creationId xmlns:a16="http://schemas.microsoft.com/office/drawing/2014/main" id="{F63539FE-3531-91C2-8E48-57B9367E1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6535271" y="2171700"/>
            <a:ext cx="5450334" cy="3355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64A4F8-EB88-E210-70EB-057CA7A39FD1}"/>
              </a:ext>
            </a:extLst>
          </p:cNvPr>
          <p:cNvSpPr txBox="1"/>
          <p:nvPr/>
        </p:nvSpPr>
        <p:spPr>
          <a:xfrm>
            <a:off x="955040" y="1626275"/>
            <a:ext cx="53746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observations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return direction label is </a:t>
            </a:r>
            <a:r>
              <a:rPr lang="en-US" sz="18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mildly imbalanced</a:t>
            </a:r>
            <a:r>
              <a:rPr lang="en-US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positive returns occurring in approximately 53% of cases (Baseline)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Momentum and volatility display heavy tails and substantial dispersion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Fundamental proxies (ROE and PB) show weak univariate relationships with next-month returns</a:t>
            </a:r>
          </a:p>
        </p:txBody>
      </p:sp>
    </p:spTree>
    <p:extLst>
      <p:ext uri="{BB962C8B-B14F-4D97-AF65-F5344CB8AC3E}">
        <p14:creationId xmlns:p14="http://schemas.microsoft.com/office/powerpoint/2010/main" val="3889043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EDE97-C29D-386B-DBE1-0A452001C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Models and Interpretation Tools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4EA0E6-4678-40E8-CEFB-3B3F443936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13840" y="1690062"/>
            <a:ext cx="435864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CN" altLang="en-CN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Logistic regression (Linear)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CN" altLang="en-CN" sz="2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CN" altLang="en-CN" sz="2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CN" altLang="en-CN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Random forest (Nonlinear)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CN" altLang="en-CN" sz="2200" b="1" dirty="0">
              <a:solidFill>
                <a:srgbClr val="000000"/>
              </a:solidFill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CN" altLang="en-CN" sz="2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CN" altLang="en-CN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Neural network (2+2 layers)</a:t>
            </a:r>
          </a:p>
          <a:p>
            <a:pPr marL="530352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CN" altLang="en-CN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(</a:t>
            </a:r>
            <a:r>
              <a:rPr kumimoji="0" lang="en-US" altLang="en-CN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to test whether increased model flexibility improves predictive performance</a:t>
            </a:r>
            <a:r>
              <a:rPr kumimoji="0" lang="en-CN" altLang="en-CN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)</a:t>
            </a:r>
            <a:endParaRPr kumimoji="0" lang="en-CN" altLang="en-CN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119DD9-6075-A1A8-5297-28FFCBF53C7B}"/>
              </a:ext>
            </a:extLst>
          </p:cNvPr>
          <p:cNvSpPr txBox="1"/>
          <p:nvPr/>
        </p:nvSpPr>
        <p:spPr>
          <a:xfrm>
            <a:off x="6172200" y="1553413"/>
            <a:ext cx="526373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2200" dirty="0"/>
              <a:t>Logistic Regression Coefficients: Provide linear, directional insights </a:t>
            </a:r>
          </a:p>
          <a:p>
            <a:endParaRPr lang="en-US" sz="2200" dirty="0"/>
          </a:p>
          <a:p>
            <a:pPr marL="285750" indent="-285750">
              <a:buFont typeface="Wingdings" pitchFamily="2" charset="2"/>
              <a:buChar char="§"/>
            </a:pPr>
            <a:r>
              <a:rPr lang="en-US" sz="2200" dirty="0"/>
              <a:t>Random Forest Gini Importance: Shows which features are most frequently used and effective for tree splits, capturing non-linear interactions</a:t>
            </a:r>
          </a:p>
          <a:p>
            <a:endParaRPr lang="en-US" sz="2200" dirty="0"/>
          </a:p>
          <a:p>
            <a:pPr marL="285750" indent="-285750">
              <a:buFont typeface="Wingdings" pitchFamily="2" charset="2"/>
              <a:buChar char="§"/>
            </a:pPr>
            <a:r>
              <a:rPr lang="en-US" sz="2200" dirty="0"/>
              <a:t>Permutation Importance: Measures actual prediction impact by shuffling each feature and observing accuracy drop</a:t>
            </a:r>
          </a:p>
        </p:txBody>
      </p:sp>
    </p:spTree>
    <p:extLst>
      <p:ext uri="{BB962C8B-B14F-4D97-AF65-F5344CB8AC3E}">
        <p14:creationId xmlns:p14="http://schemas.microsoft.com/office/powerpoint/2010/main" val="3749056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92312-8E24-51D6-1D7B-D5251794B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Results --- Model Performance</a:t>
            </a:r>
          </a:p>
        </p:txBody>
      </p:sp>
      <p:pic>
        <p:nvPicPr>
          <p:cNvPr id="6" name="Content Placeholder 5" descr="A screenshot of a graph&#10;&#10;AI-generated content may be incorrect.">
            <a:extLst>
              <a:ext uri="{FF2B5EF4-FFF2-40B4-BE49-F238E27FC236}">
                <a16:creationId xmlns:a16="http://schemas.microsoft.com/office/drawing/2014/main" id="{02B99DF9-7483-EB91-0284-1F473A626F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71600" y="2082800"/>
            <a:ext cx="4279900" cy="2692400"/>
          </a:xfrm>
        </p:spPr>
      </p:pic>
      <p:pic>
        <p:nvPicPr>
          <p:cNvPr id="8" name="Picture 7" descr="A graph of blue bars&#10;&#10;AI-generated content may be incorrect.">
            <a:extLst>
              <a:ext uri="{FF2B5EF4-FFF2-40B4-BE49-F238E27FC236}">
                <a16:creationId xmlns:a16="http://schemas.microsoft.com/office/drawing/2014/main" id="{BD054BE1-5592-C55C-8D6A-F63FA9D95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635" y="1660579"/>
            <a:ext cx="4594412" cy="469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97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1E3FB-A7CB-F91D-4B0A-ED92DA0FB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Results --- Feature siginificance</a:t>
            </a:r>
          </a:p>
        </p:txBody>
      </p:sp>
      <p:pic>
        <p:nvPicPr>
          <p:cNvPr id="9" name="Content Placeholder 8" descr="A graph with blue squares&#10;&#10;AI-generated content may be incorrect.">
            <a:extLst>
              <a:ext uri="{FF2B5EF4-FFF2-40B4-BE49-F238E27FC236}">
                <a16:creationId xmlns:a16="http://schemas.microsoft.com/office/drawing/2014/main" id="{B2C1B742-B7A0-196D-C72F-CD0983DBC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71600" y="2535026"/>
            <a:ext cx="9601200" cy="3083347"/>
          </a:xfrm>
        </p:spPr>
      </p:pic>
    </p:spTree>
    <p:extLst>
      <p:ext uri="{BB962C8B-B14F-4D97-AF65-F5344CB8AC3E}">
        <p14:creationId xmlns:p14="http://schemas.microsoft.com/office/powerpoint/2010/main" val="1138947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FBBEA-8F12-FE4F-1CF8-ED022B025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99EBB-3CE1-841E-A865-A14E03ADB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10206842" cy="3581400"/>
          </a:xfrm>
        </p:spPr>
        <p:txBody>
          <a:bodyPr/>
          <a:lstStyle/>
          <a:p>
            <a:r>
              <a:rPr lang="en-US" sz="2400" dirty="0"/>
              <a:t>Difficulty predicting downside months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Look-Ahead bias in methods and temporal lag of fundamentals in data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1F2328"/>
                </a:solidFill>
              </a:rPr>
              <a:t>Future work could explore longer prediction horizons (3-6 months)</a:t>
            </a:r>
            <a:endParaRPr lang="en-CN" sz="2400" dirty="0"/>
          </a:p>
          <a:p>
            <a:endParaRPr lang="en-US" sz="2400" dirty="0"/>
          </a:p>
          <a:p>
            <a:pPr marL="0" indent="0">
              <a:buNone/>
            </a:pP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53067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21AA8-6EC6-8A9C-AA23-636413A03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CA06C-B4A1-D9BA-0275-C4F2CF215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286000"/>
            <a:ext cx="6074229" cy="3770416"/>
          </a:xfrm>
        </p:spPr>
        <p:txBody>
          <a:bodyPr>
            <a:normAutofit fontScale="85000" lnSpcReduction="10000"/>
          </a:bodyPr>
          <a:lstStyle/>
          <a:p>
            <a:r>
              <a:rPr lang="en-US" sz="3200" dirty="0"/>
              <a:t>Tested predictability of next-month returns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Small gains over baseline (~55.6%) with Random Forest being the best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Firm size and profitability matter most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626450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D69980-2930-9425-8237-4C91D6525A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/>
              <a:t>Thanks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492FAE8-2CB3-239E-3D7C-DE32E05E3D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575267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157</TotalTime>
  <Words>596</Words>
  <Application>Microsoft Macintosh PowerPoint</Application>
  <PresentationFormat>Widescreen</PresentationFormat>
  <Paragraphs>81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quote-cjk-patch</vt:lpstr>
      <vt:lpstr>Aptos</vt:lpstr>
      <vt:lpstr>Arial</vt:lpstr>
      <vt:lpstr>Franklin Gothic Book</vt:lpstr>
      <vt:lpstr>Wingdings</vt:lpstr>
      <vt:lpstr>Crop</vt:lpstr>
      <vt:lpstr>Data Bootcamp Final project:  Stock Return Direction Prediction</vt:lpstr>
      <vt:lpstr>Research Focus and Topic Question</vt:lpstr>
      <vt:lpstr>Data Sources  </vt:lpstr>
      <vt:lpstr>Feature Construction</vt:lpstr>
      <vt:lpstr>EDA</vt:lpstr>
      <vt:lpstr>Models and Interpretation Tools</vt:lpstr>
      <vt:lpstr>Results --- Model Performance</vt:lpstr>
      <vt:lpstr>Results --- Feature siginificance</vt:lpstr>
      <vt:lpstr>Discussion</vt:lpstr>
      <vt:lpstr>Conclusion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Yicheng Song</dc:creator>
  <cp:lastModifiedBy>Yicheng Song</cp:lastModifiedBy>
  <cp:revision>7</cp:revision>
  <dcterms:created xsi:type="dcterms:W3CDTF">2025-12-18T23:22:25Z</dcterms:created>
  <dcterms:modified xsi:type="dcterms:W3CDTF">2025-12-19T02:02:57Z</dcterms:modified>
</cp:coreProperties>
</file>